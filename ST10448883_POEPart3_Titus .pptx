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58" r:id="rId5"/>
    <p:sldId id="259" r:id="rId6"/>
    <p:sldId id="260" r:id="rId7"/>
    <p:sldId id="261" r:id="rId8"/>
    <p:sldId id="262" r:id="rId9"/>
    <p:sldId id="263" r:id="rId10"/>
    <p:sldId id="265" r:id="rId11"/>
    <p:sldId id="264"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EB2F4-71FD-1CA6-7F17-32C9D0BD17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72EF757D-137C-0588-3E2E-7A9020D1BB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39D0A33-E34E-9A34-329E-36123BA79E55}"/>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0D3A379E-D336-9B29-8AE9-8AFE374AEA2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74EEB9E-00B8-E457-B3A1-7261E2D2C878}"/>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79946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E1EE-26D1-1BA8-146A-64041DBCA1E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D9390D8-A8D3-25C0-C929-71CA0D7F7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D7D2F77-264F-023A-DD16-D0EE1B9D19AD}"/>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33B4DE0A-C6B5-992C-6703-3EAF8F36646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BC484C-E65D-5809-525E-9835EFB45E7F}"/>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2347962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A714C-9C15-1763-3034-6111EBA324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A18ECECB-EA95-BCEB-8DA5-3C57AD6C7D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96121E-9E8F-8847-D7D5-42A20C87C25B}"/>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A017A351-F858-23E7-24E9-344D8ECEFE0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6FCE884-4187-2143-C1DB-89176769C892}"/>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352512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AE9ED-DAF5-3A47-72F5-1DACD395D7C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2D62691-1C46-A0CB-772C-7A0350EA61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4F483A6-ED9E-73D2-C6D5-287E49A45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9A7DECD-51F8-D1D8-002A-005FD489420A}"/>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6" name="Footer Placeholder 5">
            <a:extLst>
              <a:ext uri="{FF2B5EF4-FFF2-40B4-BE49-F238E27FC236}">
                <a16:creationId xmlns:a16="http://schemas.microsoft.com/office/drawing/2014/main" id="{2418D742-E42A-89D3-7E92-6FAE64294E0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7350AA4-9C6D-83C1-DEBF-F33AAC98BD3F}"/>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2128318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C0362-DEF8-89A7-7E51-682C80E8F3A6}"/>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605A919-C748-4572-ECFB-F30302050E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3761EA-825E-B7D1-5029-24C2D2F164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1579260-7885-9A17-1D30-8402528443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646BAD-6AFF-ABCB-B86E-B417506A9D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E86DC2A1-B319-97ED-F612-79A7F3706863}"/>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8" name="Footer Placeholder 7">
            <a:extLst>
              <a:ext uri="{FF2B5EF4-FFF2-40B4-BE49-F238E27FC236}">
                <a16:creationId xmlns:a16="http://schemas.microsoft.com/office/drawing/2014/main" id="{DF4D6E60-5231-79E4-1E00-5D69A71778AC}"/>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0F44606-A16C-8095-8800-B28089C514F9}"/>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323616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1F325-B738-8C17-112F-B585769A4D3B}"/>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7725FCA-0EFF-DF3E-BC63-C3274F62DED2}"/>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4" name="Footer Placeholder 3">
            <a:extLst>
              <a:ext uri="{FF2B5EF4-FFF2-40B4-BE49-F238E27FC236}">
                <a16:creationId xmlns:a16="http://schemas.microsoft.com/office/drawing/2014/main" id="{1240528A-7116-2120-6817-D2576768E088}"/>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71A294E-19CC-02AB-7DC2-DD5E2B588FC7}"/>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1681344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9A110F-774F-B6D5-6DD3-12E7E3BD97B2}"/>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3" name="Footer Placeholder 2">
            <a:extLst>
              <a:ext uri="{FF2B5EF4-FFF2-40B4-BE49-F238E27FC236}">
                <a16:creationId xmlns:a16="http://schemas.microsoft.com/office/drawing/2014/main" id="{100F24F3-12E0-F368-FC27-D714180A7E9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232B3347-4FF2-A3BE-7474-2489D86A60EB}"/>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3390481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3F0C8-6E65-B912-3AB3-F512D4A58C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B550F1F-6777-4A11-2846-0FF748708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75A3B0C-5D2D-4AB1-15E5-FAF5CB1C1F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E81F1-989F-AA6B-0663-EC02031AFEA3}"/>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6" name="Footer Placeholder 5">
            <a:extLst>
              <a:ext uri="{FF2B5EF4-FFF2-40B4-BE49-F238E27FC236}">
                <a16:creationId xmlns:a16="http://schemas.microsoft.com/office/drawing/2014/main" id="{69C8C8E1-53B5-88E0-B58F-E93BBD8603C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AACE943-74F5-903F-B247-BBE208B3A7AA}"/>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338588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6AE62-54DC-39BF-36FF-80B4091CA2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871E3001-A97F-C30D-7997-FB0470B810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9A48949-C153-3EF7-3D44-63038FFBD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319B65-780F-0770-B870-1B617B7B2C3E}"/>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6" name="Footer Placeholder 5">
            <a:extLst>
              <a:ext uri="{FF2B5EF4-FFF2-40B4-BE49-F238E27FC236}">
                <a16:creationId xmlns:a16="http://schemas.microsoft.com/office/drawing/2014/main" id="{783D8DD5-D800-34C8-0D13-46FCE4B0972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F3D89C9-05F9-7E8B-2A1B-91E496491291}"/>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690766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2651-57E0-069F-D40E-94517462B362}"/>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E03A20E-4D64-EB79-E604-98652E6F67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836722A-0E4B-D160-02E9-9A27C2E4849B}"/>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57D371AD-653F-213A-3CDC-D7EFFD8965A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D6D52F8-BBFA-5C87-E895-F72193CB662D}"/>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409312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3A7CAB-22B0-03CB-E2F1-051F272907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A337694-63A1-E83A-51DF-BD6A330696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677BB62-9DA1-1D8E-3D93-B7EFDD098408}"/>
              </a:ext>
            </a:extLst>
          </p:cNvPr>
          <p:cNvSpPr>
            <a:spLocks noGrp="1"/>
          </p:cNvSpPr>
          <p:nvPr>
            <p:ph type="dt" sz="half" idx="10"/>
          </p:nvPr>
        </p:nvSpPr>
        <p:spPr/>
        <p:txBody>
          <a:body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11BE52ED-69F1-19FF-067B-C4029DD580F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F2AE443-0E3F-3BE6-D911-73A719A48DE8}"/>
              </a:ext>
            </a:extLst>
          </p:cNvPr>
          <p:cNvSpPr>
            <a:spLocks noGrp="1"/>
          </p:cNvSpPr>
          <p:nvPr>
            <p:ph type="sldNum" sz="quarter" idx="12"/>
          </p:nvPr>
        </p:nvSpPr>
        <p:spPr/>
        <p:txBody>
          <a:bodyPr/>
          <a:lstStyle/>
          <a:p>
            <a:fld id="{9B13506F-0D43-4E63-A2D0-CE03B5BD9227}" type="slidenum">
              <a:rPr lang="en-ZA" smtClean="0"/>
              <a:t>‹#›</a:t>
            </a:fld>
            <a:endParaRPr lang="en-ZA"/>
          </a:p>
        </p:txBody>
      </p:sp>
    </p:spTree>
    <p:extLst>
      <p:ext uri="{BB962C8B-B14F-4D97-AF65-F5344CB8AC3E}">
        <p14:creationId xmlns:p14="http://schemas.microsoft.com/office/powerpoint/2010/main" val="430756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3B4ED-31AC-FAE9-0D3B-15AC14F140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67F169B1-4900-52CD-B8A7-90061A5B9A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86E8050-82B6-77D5-4A7C-A260ED7BF7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5860E8-513C-4015-801A-C94F455B56E4}" type="datetimeFigureOut">
              <a:rPr lang="en-ZA" smtClean="0"/>
              <a:t>2025/11/20</a:t>
            </a:fld>
            <a:endParaRPr lang="en-ZA"/>
          </a:p>
        </p:txBody>
      </p:sp>
      <p:sp>
        <p:nvSpPr>
          <p:cNvPr id="5" name="Footer Placeholder 4">
            <a:extLst>
              <a:ext uri="{FF2B5EF4-FFF2-40B4-BE49-F238E27FC236}">
                <a16:creationId xmlns:a16="http://schemas.microsoft.com/office/drawing/2014/main" id="{8EBFF3BD-3EA7-64B4-D744-3A59A59F67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87431C4B-5353-211F-FE60-D8F72DEE7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13506F-0D43-4E63-A2D0-CE03B5BD9227}" type="slidenum">
              <a:rPr lang="en-ZA" smtClean="0"/>
              <a:t>‹#›</a:t>
            </a:fld>
            <a:endParaRPr lang="en-ZA"/>
          </a:p>
        </p:txBody>
      </p:sp>
    </p:spTree>
    <p:extLst>
      <p:ext uri="{BB962C8B-B14F-4D97-AF65-F5344CB8AC3E}">
        <p14:creationId xmlns:p14="http://schemas.microsoft.com/office/powerpoint/2010/main" val="1963398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5368C-AE8F-8F9F-0AA9-2F64C4E39943}"/>
              </a:ext>
            </a:extLst>
          </p:cNvPr>
          <p:cNvSpPr>
            <a:spLocks noGrp="1"/>
          </p:cNvSpPr>
          <p:nvPr>
            <p:ph type="ctrTitle"/>
          </p:nvPr>
        </p:nvSpPr>
        <p:spPr/>
        <p:txBody>
          <a:bodyPr/>
          <a:lstStyle/>
          <a:p>
            <a:r>
              <a:rPr lang="en-US" dirty="0"/>
              <a:t>PROG6212_PoePart3</a:t>
            </a:r>
            <a:endParaRPr lang="en-ZA" dirty="0"/>
          </a:p>
        </p:txBody>
      </p:sp>
      <p:sp>
        <p:nvSpPr>
          <p:cNvPr id="3" name="Subtitle 2">
            <a:extLst>
              <a:ext uri="{FF2B5EF4-FFF2-40B4-BE49-F238E27FC236}">
                <a16:creationId xmlns:a16="http://schemas.microsoft.com/office/drawing/2014/main" id="{925F9274-8920-6470-3EB2-4AA266E77148}"/>
              </a:ext>
            </a:extLst>
          </p:cNvPr>
          <p:cNvSpPr>
            <a:spLocks noGrp="1"/>
          </p:cNvSpPr>
          <p:nvPr>
            <p:ph type="subTitle" idx="1"/>
          </p:nvPr>
        </p:nvSpPr>
        <p:spPr/>
        <p:txBody>
          <a:bodyPr/>
          <a:lstStyle/>
          <a:p>
            <a:r>
              <a:rPr lang="en-US" dirty="0"/>
              <a:t>This is a presentation based on lectures feedback and new features for Part 3 Poe</a:t>
            </a:r>
            <a:endParaRPr lang="en-ZA" dirty="0"/>
          </a:p>
        </p:txBody>
      </p:sp>
    </p:spTree>
    <p:extLst>
      <p:ext uri="{BB962C8B-B14F-4D97-AF65-F5344CB8AC3E}">
        <p14:creationId xmlns:p14="http://schemas.microsoft.com/office/powerpoint/2010/main" val="2976643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F6DD-DCFD-0FF3-D6DF-3F589D7ACEAC}"/>
              </a:ext>
            </a:extLst>
          </p:cNvPr>
          <p:cNvSpPr>
            <a:spLocks noGrp="1"/>
          </p:cNvSpPr>
          <p:nvPr>
            <p:ph type="title"/>
          </p:nvPr>
        </p:nvSpPr>
        <p:spPr/>
        <p:txBody>
          <a:bodyPr/>
          <a:lstStyle/>
          <a:p>
            <a:r>
              <a:rPr lang="en-US" dirty="0"/>
              <a:t>Introduction </a:t>
            </a:r>
            <a:endParaRPr lang="en-ZA" dirty="0"/>
          </a:p>
        </p:txBody>
      </p:sp>
      <p:sp>
        <p:nvSpPr>
          <p:cNvPr id="3" name="Text Placeholder 2">
            <a:extLst>
              <a:ext uri="{FF2B5EF4-FFF2-40B4-BE49-F238E27FC236}">
                <a16:creationId xmlns:a16="http://schemas.microsoft.com/office/drawing/2014/main" id="{17D13F0D-0EDA-973C-4A13-AF29D25CE90E}"/>
              </a:ext>
            </a:extLst>
          </p:cNvPr>
          <p:cNvSpPr>
            <a:spLocks noGrp="1"/>
          </p:cNvSpPr>
          <p:nvPr>
            <p:ph type="body" idx="1"/>
          </p:nvPr>
        </p:nvSpPr>
        <p:spPr/>
        <p:txBody>
          <a:bodyPr>
            <a:normAutofit fontScale="62500" lnSpcReduction="20000"/>
          </a:bodyPr>
          <a:lstStyle/>
          <a:p>
            <a:r>
              <a:rPr lang="en-US" dirty="0"/>
              <a:t>The </a:t>
            </a:r>
            <a:r>
              <a:rPr lang="en-US" dirty="0" err="1"/>
              <a:t>BuildTrack</a:t>
            </a:r>
            <a:r>
              <a:rPr lang="en-US" dirty="0"/>
              <a:t> Claim System is a web-based application designed to streamline and manage the end-to-end workflow of construction work claims. It provides a centralized platform for Workers, Project Managers, Construction Managers, and HR to collaborate efficiently. Workers can submit completed jobs and track their claims, while Managers and HR can review, approve, reject, and finalize payments in a structured and automated workflow. By integrating role-based access, automated notifications, and reporting functionalities, the system reduces administrative overhead, minimizes errors, and ensures transparent and accountable management of work claims. Additionally, the application leverages a SQL database to store all work submissions, approvals, and payment records securely, ensuring data integrity and easy access for reporting and analysis.</a:t>
            </a:r>
            <a:endParaRPr lang="en-ZA" dirty="0"/>
          </a:p>
        </p:txBody>
      </p:sp>
    </p:spTree>
    <p:extLst>
      <p:ext uri="{BB962C8B-B14F-4D97-AF65-F5344CB8AC3E}">
        <p14:creationId xmlns:p14="http://schemas.microsoft.com/office/powerpoint/2010/main" val="524593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CF986-B420-267D-51A2-61C917D433EC}"/>
              </a:ext>
            </a:extLst>
          </p:cNvPr>
          <p:cNvSpPr>
            <a:spLocks noGrp="1"/>
          </p:cNvSpPr>
          <p:nvPr>
            <p:ph type="title"/>
          </p:nvPr>
        </p:nvSpPr>
        <p:spPr/>
        <p:txBody>
          <a:bodyPr/>
          <a:lstStyle/>
          <a:p>
            <a:r>
              <a:rPr lang="en-US" dirty="0"/>
              <a:t>Claim Approval Dashboard</a:t>
            </a:r>
            <a:endParaRPr lang="en-ZA" dirty="0"/>
          </a:p>
        </p:txBody>
      </p:sp>
      <p:pic>
        <p:nvPicPr>
          <p:cNvPr id="6" name="Picture Placeholder 5">
            <a:extLst>
              <a:ext uri="{FF2B5EF4-FFF2-40B4-BE49-F238E27FC236}">
                <a16:creationId xmlns:a16="http://schemas.microsoft.com/office/drawing/2014/main" id="{96A235F8-43AA-853A-1F9C-28CFAD091C38}"/>
              </a:ext>
            </a:extLst>
          </p:cNvPr>
          <p:cNvPicPr>
            <a:picLocks noGrp="1" noChangeAspect="1"/>
          </p:cNvPicPr>
          <p:nvPr>
            <p:ph type="pic" idx="1"/>
          </p:nvPr>
        </p:nvPicPr>
        <p:blipFill>
          <a:blip r:embed="rId2"/>
          <a:srcRect l="3640" r="3640"/>
          <a:stretch/>
        </p:blipFill>
        <p:spPr/>
      </p:pic>
      <p:sp>
        <p:nvSpPr>
          <p:cNvPr id="4" name="Text Placeholder 3">
            <a:extLst>
              <a:ext uri="{FF2B5EF4-FFF2-40B4-BE49-F238E27FC236}">
                <a16:creationId xmlns:a16="http://schemas.microsoft.com/office/drawing/2014/main" id="{46BE856D-8763-5ADF-9094-50B6EA8782F0}"/>
              </a:ext>
            </a:extLst>
          </p:cNvPr>
          <p:cNvSpPr>
            <a:spLocks noGrp="1"/>
          </p:cNvSpPr>
          <p:nvPr>
            <p:ph type="body" sz="half" idx="2"/>
          </p:nvPr>
        </p:nvSpPr>
        <p:spPr/>
        <p:txBody>
          <a:bodyPr/>
          <a:lstStyle/>
          <a:p>
            <a:r>
              <a:rPr lang="en-US" dirty="0"/>
              <a:t>Lectures feedback(</a:t>
            </a:r>
            <a:r>
              <a:rPr lang="en-US" b="0" i="0" dirty="0">
                <a:solidFill>
                  <a:srgbClr val="202122"/>
                </a:solidFill>
                <a:effectLst/>
                <a:latin typeface="Lato" panose="020F0502020204030204" pitchFamily="34" charset="0"/>
              </a:rPr>
              <a:t>Rather show the option/button to download showing names distort the layout</a:t>
            </a:r>
            <a:r>
              <a:rPr lang="en-US" dirty="0"/>
              <a:t>)</a:t>
            </a:r>
          </a:p>
          <a:p>
            <a:endParaRPr lang="en-US" dirty="0"/>
          </a:p>
          <a:p>
            <a:r>
              <a:rPr lang="en-US" dirty="0"/>
              <a:t>What I did about it: The whole idea if downloading proof has been removed. </a:t>
            </a:r>
            <a:endParaRPr lang="en-ZA" dirty="0"/>
          </a:p>
        </p:txBody>
      </p:sp>
    </p:spTree>
    <p:extLst>
      <p:ext uri="{BB962C8B-B14F-4D97-AF65-F5344CB8AC3E}">
        <p14:creationId xmlns:p14="http://schemas.microsoft.com/office/powerpoint/2010/main" val="215187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AFC86-4962-56B9-F0E0-8569C0BF21EE}"/>
              </a:ext>
            </a:extLst>
          </p:cNvPr>
          <p:cNvSpPr>
            <a:spLocks noGrp="1"/>
          </p:cNvSpPr>
          <p:nvPr>
            <p:ph type="title"/>
          </p:nvPr>
        </p:nvSpPr>
        <p:spPr/>
        <p:txBody>
          <a:bodyPr/>
          <a:lstStyle/>
          <a:p>
            <a:r>
              <a:rPr lang="en-US" dirty="0"/>
              <a:t>Amount Limitation </a:t>
            </a:r>
            <a:endParaRPr lang="en-ZA" dirty="0"/>
          </a:p>
        </p:txBody>
      </p:sp>
      <p:pic>
        <p:nvPicPr>
          <p:cNvPr id="6" name="Picture Placeholder 5">
            <a:extLst>
              <a:ext uri="{FF2B5EF4-FFF2-40B4-BE49-F238E27FC236}">
                <a16:creationId xmlns:a16="http://schemas.microsoft.com/office/drawing/2014/main" id="{CA7AB9F8-2CB8-2A82-E8FE-980C6A1897EE}"/>
              </a:ext>
            </a:extLst>
          </p:cNvPr>
          <p:cNvPicPr>
            <a:picLocks noGrp="1" noChangeAspect="1"/>
          </p:cNvPicPr>
          <p:nvPr>
            <p:ph type="pic" idx="1"/>
          </p:nvPr>
        </p:nvPicPr>
        <p:blipFill>
          <a:blip r:embed="rId2"/>
          <a:srcRect l="4086" r="4086"/>
          <a:stretch/>
        </p:blipFill>
        <p:spPr/>
      </p:pic>
      <p:sp>
        <p:nvSpPr>
          <p:cNvPr id="4" name="Text Placeholder 3">
            <a:extLst>
              <a:ext uri="{FF2B5EF4-FFF2-40B4-BE49-F238E27FC236}">
                <a16:creationId xmlns:a16="http://schemas.microsoft.com/office/drawing/2014/main" id="{6F78BF17-AF59-EFC4-DF15-F9270B0F3348}"/>
              </a:ext>
            </a:extLst>
          </p:cNvPr>
          <p:cNvSpPr>
            <a:spLocks noGrp="1"/>
          </p:cNvSpPr>
          <p:nvPr>
            <p:ph type="body" sz="half" idx="2"/>
          </p:nvPr>
        </p:nvSpPr>
        <p:spPr/>
        <p:txBody>
          <a:bodyPr/>
          <a:lstStyle/>
          <a:p>
            <a:r>
              <a:rPr lang="en-US" dirty="0"/>
              <a:t>Lecture Feedback: Validate the amount limit </a:t>
            </a:r>
          </a:p>
          <a:p>
            <a:endParaRPr lang="en-US" dirty="0"/>
          </a:p>
          <a:p>
            <a:r>
              <a:rPr lang="en-US" dirty="0"/>
              <a:t>What I have done about it: On Part 3, the maximum hours a lecture can work is 66 Hours in a month and there is a fixed hourly rate.</a:t>
            </a:r>
            <a:endParaRPr lang="en-ZA" dirty="0"/>
          </a:p>
        </p:txBody>
      </p:sp>
    </p:spTree>
    <p:extLst>
      <p:ext uri="{BB962C8B-B14F-4D97-AF65-F5344CB8AC3E}">
        <p14:creationId xmlns:p14="http://schemas.microsoft.com/office/powerpoint/2010/main" val="2934335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B6D2C-5D86-315D-0889-723AA26E2FC9}"/>
              </a:ext>
            </a:extLst>
          </p:cNvPr>
          <p:cNvSpPr>
            <a:spLocks noGrp="1"/>
          </p:cNvSpPr>
          <p:nvPr>
            <p:ph type="title"/>
          </p:nvPr>
        </p:nvSpPr>
        <p:spPr/>
        <p:txBody>
          <a:bodyPr/>
          <a:lstStyle/>
          <a:p>
            <a:r>
              <a:rPr lang="en-US" dirty="0"/>
              <a:t>New Features on Part 3 Poe compared to Part 2 Poe </a:t>
            </a:r>
            <a:endParaRPr lang="en-ZA" dirty="0"/>
          </a:p>
        </p:txBody>
      </p:sp>
      <p:sp>
        <p:nvSpPr>
          <p:cNvPr id="3" name="Text Placeholder 2">
            <a:extLst>
              <a:ext uri="{FF2B5EF4-FFF2-40B4-BE49-F238E27FC236}">
                <a16:creationId xmlns:a16="http://schemas.microsoft.com/office/drawing/2014/main" id="{083E13B8-00BF-A81B-9E9F-577092D09C49}"/>
              </a:ext>
            </a:extLst>
          </p:cNvPr>
          <p:cNvSpPr>
            <a:spLocks noGrp="1"/>
          </p:cNvSpPr>
          <p:nvPr>
            <p:ph type="body" idx="1"/>
          </p:nvPr>
        </p:nvSpPr>
        <p:spPr/>
        <p:txBody>
          <a:bodyPr/>
          <a:lstStyle/>
          <a:p>
            <a:endParaRPr lang="en-ZA" dirty="0"/>
          </a:p>
        </p:txBody>
      </p:sp>
    </p:spTree>
    <p:extLst>
      <p:ext uri="{BB962C8B-B14F-4D97-AF65-F5344CB8AC3E}">
        <p14:creationId xmlns:p14="http://schemas.microsoft.com/office/powerpoint/2010/main" val="62292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B8958-A1DC-20F4-AF89-DBC6A85CBD2A}"/>
              </a:ext>
            </a:extLst>
          </p:cNvPr>
          <p:cNvSpPr>
            <a:spLocks noGrp="1"/>
          </p:cNvSpPr>
          <p:nvPr>
            <p:ph type="title"/>
          </p:nvPr>
        </p:nvSpPr>
        <p:spPr/>
        <p:txBody>
          <a:bodyPr/>
          <a:lstStyle/>
          <a:p>
            <a:r>
              <a:rPr lang="en-US" dirty="0"/>
              <a:t>The Welcome Page </a:t>
            </a:r>
            <a:endParaRPr lang="en-ZA" dirty="0"/>
          </a:p>
        </p:txBody>
      </p:sp>
      <p:sp>
        <p:nvSpPr>
          <p:cNvPr id="3" name="Text Placeholder 2">
            <a:extLst>
              <a:ext uri="{FF2B5EF4-FFF2-40B4-BE49-F238E27FC236}">
                <a16:creationId xmlns:a16="http://schemas.microsoft.com/office/drawing/2014/main" id="{48B21543-F841-55C0-A6FA-7EC770E68818}"/>
              </a:ext>
            </a:extLst>
          </p:cNvPr>
          <p:cNvSpPr>
            <a:spLocks noGrp="1"/>
          </p:cNvSpPr>
          <p:nvPr>
            <p:ph type="body" idx="1"/>
          </p:nvPr>
        </p:nvSpPr>
        <p:spPr/>
        <p:txBody>
          <a:bodyPr>
            <a:normAutofit fontScale="85000" lnSpcReduction="20000"/>
          </a:bodyPr>
          <a:lstStyle/>
          <a:p>
            <a:r>
              <a:rPr lang="en-US" dirty="0"/>
              <a:t>POE Part 2 had a blank Welcome Page </a:t>
            </a:r>
            <a:endParaRPr lang="en-ZA" dirty="0"/>
          </a:p>
        </p:txBody>
      </p:sp>
      <p:pic>
        <p:nvPicPr>
          <p:cNvPr id="8" name="Content Placeholder 7">
            <a:extLst>
              <a:ext uri="{FF2B5EF4-FFF2-40B4-BE49-F238E27FC236}">
                <a16:creationId xmlns:a16="http://schemas.microsoft.com/office/drawing/2014/main" id="{8C059F64-63FC-525E-1AEC-D8EEA5F30B4C}"/>
              </a:ext>
            </a:extLst>
          </p:cNvPr>
          <p:cNvPicPr>
            <a:picLocks noGrp="1" noChangeAspect="1"/>
          </p:cNvPicPr>
          <p:nvPr>
            <p:ph sz="half" idx="2"/>
          </p:nvPr>
        </p:nvPicPr>
        <p:blipFill>
          <a:blip r:embed="rId2"/>
          <a:stretch>
            <a:fillRect/>
          </a:stretch>
        </p:blipFill>
        <p:spPr>
          <a:xfrm>
            <a:off x="952580" y="2505075"/>
            <a:ext cx="4932202" cy="3684588"/>
          </a:xfrm>
        </p:spPr>
      </p:pic>
      <p:sp>
        <p:nvSpPr>
          <p:cNvPr id="5" name="Text Placeholder 4">
            <a:extLst>
              <a:ext uri="{FF2B5EF4-FFF2-40B4-BE49-F238E27FC236}">
                <a16:creationId xmlns:a16="http://schemas.microsoft.com/office/drawing/2014/main" id="{53735767-A0C5-2D72-56A2-2AAC75DB1267}"/>
              </a:ext>
            </a:extLst>
          </p:cNvPr>
          <p:cNvSpPr>
            <a:spLocks noGrp="1"/>
          </p:cNvSpPr>
          <p:nvPr>
            <p:ph type="body" sz="quarter" idx="3"/>
          </p:nvPr>
        </p:nvSpPr>
        <p:spPr/>
        <p:txBody>
          <a:bodyPr>
            <a:normAutofit fontScale="85000" lnSpcReduction="20000"/>
          </a:bodyPr>
          <a:lstStyle/>
          <a:p>
            <a:r>
              <a:rPr lang="en-US" dirty="0"/>
              <a:t>Poe Part 3 has a more user-friendly welcoming Page with a lot of details guiding a user on how to correctly use the application </a:t>
            </a:r>
            <a:endParaRPr lang="en-ZA" dirty="0"/>
          </a:p>
        </p:txBody>
      </p:sp>
      <p:pic>
        <p:nvPicPr>
          <p:cNvPr id="10" name="Content Placeholder 9">
            <a:extLst>
              <a:ext uri="{FF2B5EF4-FFF2-40B4-BE49-F238E27FC236}">
                <a16:creationId xmlns:a16="http://schemas.microsoft.com/office/drawing/2014/main" id="{74FD948A-A898-DB39-C030-ECFBFAC39EDE}"/>
              </a:ext>
            </a:extLst>
          </p:cNvPr>
          <p:cNvPicPr>
            <a:picLocks noGrp="1" noChangeAspect="1"/>
          </p:cNvPicPr>
          <p:nvPr>
            <p:ph sz="quarter" idx="4"/>
          </p:nvPr>
        </p:nvPicPr>
        <p:blipFill>
          <a:blip r:embed="rId3"/>
          <a:stretch>
            <a:fillRect/>
          </a:stretch>
        </p:blipFill>
        <p:spPr>
          <a:xfrm>
            <a:off x="6283783" y="2505075"/>
            <a:ext cx="4960022" cy="3684588"/>
          </a:xfrm>
        </p:spPr>
      </p:pic>
    </p:spTree>
    <p:extLst>
      <p:ext uri="{BB962C8B-B14F-4D97-AF65-F5344CB8AC3E}">
        <p14:creationId xmlns:p14="http://schemas.microsoft.com/office/powerpoint/2010/main" val="158598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7A6B-209F-E157-A1D3-36BA7173CA06}"/>
              </a:ext>
            </a:extLst>
          </p:cNvPr>
          <p:cNvSpPr>
            <a:spLocks noGrp="1"/>
          </p:cNvSpPr>
          <p:nvPr>
            <p:ph type="title"/>
          </p:nvPr>
        </p:nvSpPr>
        <p:spPr/>
        <p:txBody>
          <a:bodyPr>
            <a:normAutofit/>
          </a:bodyPr>
          <a:lstStyle/>
          <a:p>
            <a:r>
              <a:rPr lang="en-US" dirty="0"/>
              <a:t>Login Feature: </a:t>
            </a:r>
            <a:r>
              <a:rPr lang="en-US" sz="2700" dirty="0"/>
              <a:t>Part 2 had no login feature there for Part 3 has a new feature whereby users need to login depending on their position </a:t>
            </a:r>
            <a:endParaRPr lang="en-ZA" sz="2700" dirty="0"/>
          </a:p>
        </p:txBody>
      </p:sp>
      <p:pic>
        <p:nvPicPr>
          <p:cNvPr id="6" name="Content Placeholder 5">
            <a:extLst>
              <a:ext uri="{FF2B5EF4-FFF2-40B4-BE49-F238E27FC236}">
                <a16:creationId xmlns:a16="http://schemas.microsoft.com/office/drawing/2014/main" id="{2CECE5A8-6BFD-FC6F-4D35-F22E4C6BE1AC}"/>
              </a:ext>
            </a:extLst>
          </p:cNvPr>
          <p:cNvPicPr>
            <a:picLocks noGrp="1" noChangeAspect="1"/>
          </p:cNvPicPr>
          <p:nvPr>
            <p:ph sz="half" idx="1"/>
          </p:nvPr>
        </p:nvPicPr>
        <p:blipFill>
          <a:blip r:embed="rId2"/>
          <a:stretch>
            <a:fillRect/>
          </a:stretch>
        </p:blipFill>
        <p:spPr>
          <a:xfrm>
            <a:off x="838200" y="2388444"/>
            <a:ext cx="5181600" cy="3225699"/>
          </a:xfrm>
        </p:spPr>
      </p:pic>
      <p:pic>
        <p:nvPicPr>
          <p:cNvPr id="8" name="Content Placeholder 7">
            <a:extLst>
              <a:ext uri="{FF2B5EF4-FFF2-40B4-BE49-F238E27FC236}">
                <a16:creationId xmlns:a16="http://schemas.microsoft.com/office/drawing/2014/main" id="{7C264F1F-9357-D1F0-4672-151BCD95C0A4}"/>
              </a:ext>
            </a:extLst>
          </p:cNvPr>
          <p:cNvPicPr>
            <a:picLocks noGrp="1" noChangeAspect="1"/>
          </p:cNvPicPr>
          <p:nvPr>
            <p:ph sz="half" idx="2"/>
          </p:nvPr>
        </p:nvPicPr>
        <p:blipFill>
          <a:blip r:embed="rId3"/>
          <a:stretch>
            <a:fillRect/>
          </a:stretch>
        </p:blipFill>
        <p:spPr>
          <a:xfrm>
            <a:off x="6172200" y="2150722"/>
            <a:ext cx="5181600" cy="3701143"/>
          </a:xfrm>
        </p:spPr>
      </p:pic>
    </p:spTree>
    <p:extLst>
      <p:ext uri="{BB962C8B-B14F-4D97-AF65-F5344CB8AC3E}">
        <p14:creationId xmlns:p14="http://schemas.microsoft.com/office/powerpoint/2010/main" val="242850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DCFF-36B8-62C7-3394-83CE4F76E66C}"/>
              </a:ext>
            </a:extLst>
          </p:cNvPr>
          <p:cNvSpPr>
            <a:spLocks noGrp="1"/>
          </p:cNvSpPr>
          <p:nvPr>
            <p:ph type="title"/>
          </p:nvPr>
        </p:nvSpPr>
        <p:spPr/>
        <p:txBody>
          <a:bodyPr/>
          <a:lstStyle/>
          <a:p>
            <a:r>
              <a:rPr lang="en-US" dirty="0"/>
              <a:t>Lecture Claim</a:t>
            </a:r>
            <a:endParaRPr lang="en-ZA" dirty="0"/>
          </a:p>
        </p:txBody>
      </p:sp>
      <p:sp>
        <p:nvSpPr>
          <p:cNvPr id="3" name="Text Placeholder 2">
            <a:extLst>
              <a:ext uri="{FF2B5EF4-FFF2-40B4-BE49-F238E27FC236}">
                <a16:creationId xmlns:a16="http://schemas.microsoft.com/office/drawing/2014/main" id="{0C7AB2CF-CA3A-428C-EFCD-6B5D3E9747FB}"/>
              </a:ext>
            </a:extLst>
          </p:cNvPr>
          <p:cNvSpPr>
            <a:spLocks noGrp="1"/>
          </p:cNvSpPr>
          <p:nvPr>
            <p:ph type="body" idx="1"/>
          </p:nvPr>
        </p:nvSpPr>
        <p:spPr/>
        <p:txBody>
          <a:bodyPr>
            <a:normAutofit fontScale="92500" lnSpcReduction="20000"/>
          </a:bodyPr>
          <a:lstStyle/>
          <a:p>
            <a:r>
              <a:rPr lang="en-US" dirty="0"/>
              <a:t>Part 2, the lecture just has to enter there details and submit proof of something for their claim to be submitted </a:t>
            </a:r>
            <a:endParaRPr lang="en-ZA" dirty="0"/>
          </a:p>
        </p:txBody>
      </p:sp>
      <p:pic>
        <p:nvPicPr>
          <p:cNvPr id="8" name="Content Placeholder 7">
            <a:extLst>
              <a:ext uri="{FF2B5EF4-FFF2-40B4-BE49-F238E27FC236}">
                <a16:creationId xmlns:a16="http://schemas.microsoft.com/office/drawing/2014/main" id="{4F080C81-8E52-D074-C2AB-35C55263B258}"/>
              </a:ext>
            </a:extLst>
          </p:cNvPr>
          <p:cNvPicPr>
            <a:picLocks noGrp="1" noChangeAspect="1"/>
          </p:cNvPicPr>
          <p:nvPr>
            <p:ph sz="half" idx="2"/>
          </p:nvPr>
        </p:nvPicPr>
        <p:blipFill>
          <a:blip r:embed="rId2"/>
          <a:stretch>
            <a:fillRect/>
          </a:stretch>
        </p:blipFill>
        <p:spPr>
          <a:xfrm>
            <a:off x="919852" y="2505075"/>
            <a:ext cx="4997659" cy="3684588"/>
          </a:xfrm>
        </p:spPr>
      </p:pic>
      <p:sp>
        <p:nvSpPr>
          <p:cNvPr id="5" name="Text Placeholder 4">
            <a:extLst>
              <a:ext uri="{FF2B5EF4-FFF2-40B4-BE49-F238E27FC236}">
                <a16:creationId xmlns:a16="http://schemas.microsoft.com/office/drawing/2014/main" id="{7825B4FE-D6B2-7505-146E-9BAF5C7C6564}"/>
              </a:ext>
            </a:extLst>
          </p:cNvPr>
          <p:cNvSpPr>
            <a:spLocks noGrp="1"/>
          </p:cNvSpPr>
          <p:nvPr>
            <p:ph type="body" sz="quarter" idx="3"/>
          </p:nvPr>
        </p:nvSpPr>
        <p:spPr/>
        <p:txBody>
          <a:bodyPr>
            <a:normAutofit fontScale="92500" lnSpcReduction="20000"/>
          </a:bodyPr>
          <a:lstStyle/>
          <a:p>
            <a:r>
              <a:rPr lang="en-US" dirty="0"/>
              <a:t>On part 3: The lecture has a lot of updated features including the Home Page </a:t>
            </a:r>
            <a:endParaRPr lang="en-ZA" dirty="0"/>
          </a:p>
        </p:txBody>
      </p:sp>
      <p:pic>
        <p:nvPicPr>
          <p:cNvPr id="10" name="Content Placeholder 9">
            <a:extLst>
              <a:ext uri="{FF2B5EF4-FFF2-40B4-BE49-F238E27FC236}">
                <a16:creationId xmlns:a16="http://schemas.microsoft.com/office/drawing/2014/main" id="{C65970E6-E7AE-9C7F-6DCC-0BCBA2CEE8EE}"/>
              </a:ext>
            </a:extLst>
          </p:cNvPr>
          <p:cNvPicPr>
            <a:picLocks noGrp="1" noChangeAspect="1"/>
          </p:cNvPicPr>
          <p:nvPr>
            <p:ph sz="quarter" idx="4"/>
          </p:nvPr>
        </p:nvPicPr>
        <p:blipFill>
          <a:blip r:embed="rId3"/>
          <a:stretch>
            <a:fillRect/>
          </a:stretch>
        </p:blipFill>
        <p:spPr>
          <a:xfrm>
            <a:off x="6209819" y="2505075"/>
            <a:ext cx="5107949" cy="3684588"/>
          </a:xfrm>
        </p:spPr>
      </p:pic>
    </p:spTree>
    <p:extLst>
      <p:ext uri="{BB962C8B-B14F-4D97-AF65-F5344CB8AC3E}">
        <p14:creationId xmlns:p14="http://schemas.microsoft.com/office/powerpoint/2010/main" val="1248009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FFAEA-123E-56DA-4430-0F5772ED6E9C}"/>
              </a:ext>
            </a:extLst>
          </p:cNvPr>
          <p:cNvSpPr>
            <a:spLocks noGrp="1"/>
          </p:cNvSpPr>
          <p:nvPr>
            <p:ph type="title"/>
          </p:nvPr>
        </p:nvSpPr>
        <p:spPr/>
        <p:txBody>
          <a:bodyPr/>
          <a:lstStyle/>
          <a:p>
            <a:r>
              <a:rPr lang="en-US" dirty="0"/>
              <a:t>Lecture Claim (Continuation Part 3)</a:t>
            </a:r>
            <a:endParaRPr lang="en-ZA" dirty="0"/>
          </a:p>
        </p:txBody>
      </p:sp>
      <p:sp>
        <p:nvSpPr>
          <p:cNvPr id="3" name="Text Placeholder 2">
            <a:extLst>
              <a:ext uri="{FF2B5EF4-FFF2-40B4-BE49-F238E27FC236}">
                <a16:creationId xmlns:a16="http://schemas.microsoft.com/office/drawing/2014/main" id="{F758F7F7-6A30-5F8F-EF86-8B719D5D5675}"/>
              </a:ext>
            </a:extLst>
          </p:cNvPr>
          <p:cNvSpPr>
            <a:spLocks noGrp="1"/>
          </p:cNvSpPr>
          <p:nvPr>
            <p:ph type="body" idx="1"/>
          </p:nvPr>
        </p:nvSpPr>
        <p:spPr/>
        <p:txBody>
          <a:bodyPr>
            <a:normAutofit fontScale="62500" lnSpcReduction="20000"/>
          </a:bodyPr>
          <a:lstStyle/>
          <a:p>
            <a:r>
              <a:rPr lang="en-US" dirty="0"/>
              <a:t>POE Part 3 has “MY Claim” records that show you all the claims you have made</a:t>
            </a:r>
            <a:endParaRPr lang="en-ZA" dirty="0"/>
          </a:p>
        </p:txBody>
      </p:sp>
      <p:pic>
        <p:nvPicPr>
          <p:cNvPr id="8" name="Content Placeholder 7">
            <a:extLst>
              <a:ext uri="{FF2B5EF4-FFF2-40B4-BE49-F238E27FC236}">
                <a16:creationId xmlns:a16="http://schemas.microsoft.com/office/drawing/2014/main" id="{773EB06A-0FB5-D512-AE20-256C96F792CE}"/>
              </a:ext>
            </a:extLst>
          </p:cNvPr>
          <p:cNvPicPr>
            <a:picLocks noGrp="1" noChangeAspect="1"/>
          </p:cNvPicPr>
          <p:nvPr>
            <p:ph sz="half" idx="2"/>
          </p:nvPr>
        </p:nvPicPr>
        <p:blipFill>
          <a:blip r:embed="rId2"/>
          <a:stretch>
            <a:fillRect/>
          </a:stretch>
        </p:blipFill>
        <p:spPr>
          <a:xfrm>
            <a:off x="839788" y="2532970"/>
            <a:ext cx="5157787" cy="3628798"/>
          </a:xfrm>
        </p:spPr>
      </p:pic>
      <p:sp>
        <p:nvSpPr>
          <p:cNvPr id="5" name="Text Placeholder 4">
            <a:extLst>
              <a:ext uri="{FF2B5EF4-FFF2-40B4-BE49-F238E27FC236}">
                <a16:creationId xmlns:a16="http://schemas.microsoft.com/office/drawing/2014/main" id="{8237AC6B-299B-BE8B-03B2-5E2183E66B7A}"/>
              </a:ext>
            </a:extLst>
          </p:cNvPr>
          <p:cNvSpPr>
            <a:spLocks noGrp="1"/>
          </p:cNvSpPr>
          <p:nvPr>
            <p:ph type="body" sz="quarter" idx="3"/>
          </p:nvPr>
        </p:nvSpPr>
        <p:spPr/>
        <p:txBody>
          <a:bodyPr>
            <a:normAutofit fontScale="62500" lnSpcReduction="20000"/>
          </a:bodyPr>
          <a:lstStyle/>
          <a:p>
            <a:r>
              <a:rPr lang="en-US" dirty="0"/>
              <a:t>POE Part 3 has a my “New Claim” option that already has your details and you just need to enter the umber of jobs and it will automatically calculate the amount you should get </a:t>
            </a:r>
            <a:endParaRPr lang="en-ZA" dirty="0"/>
          </a:p>
        </p:txBody>
      </p:sp>
      <p:pic>
        <p:nvPicPr>
          <p:cNvPr id="10" name="Content Placeholder 9">
            <a:extLst>
              <a:ext uri="{FF2B5EF4-FFF2-40B4-BE49-F238E27FC236}">
                <a16:creationId xmlns:a16="http://schemas.microsoft.com/office/drawing/2014/main" id="{50E4CA7F-D7A9-692F-F313-DA5EBA11C288}"/>
              </a:ext>
            </a:extLst>
          </p:cNvPr>
          <p:cNvPicPr>
            <a:picLocks noGrp="1" noChangeAspect="1"/>
          </p:cNvPicPr>
          <p:nvPr>
            <p:ph sz="quarter" idx="4"/>
          </p:nvPr>
        </p:nvPicPr>
        <p:blipFill>
          <a:blip r:embed="rId3"/>
          <a:stretch>
            <a:fillRect/>
          </a:stretch>
        </p:blipFill>
        <p:spPr>
          <a:xfrm>
            <a:off x="6270408" y="2505075"/>
            <a:ext cx="4986772" cy="3684588"/>
          </a:xfrm>
        </p:spPr>
      </p:pic>
    </p:spTree>
    <p:extLst>
      <p:ext uri="{BB962C8B-B14F-4D97-AF65-F5344CB8AC3E}">
        <p14:creationId xmlns:p14="http://schemas.microsoft.com/office/powerpoint/2010/main" val="461606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ECC0B-A2E3-20A7-3897-48231F2D6877}"/>
              </a:ext>
            </a:extLst>
          </p:cNvPr>
          <p:cNvSpPr>
            <a:spLocks noGrp="1"/>
          </p:cNvSpPr>
          <p:nvPr>
            <p:ph type="title"/>
          </p:nvPr>
        </p:nvSpPr>
        <p:spPr/>
        <p:txBody>
          <a:bodyPr/>
          <a:lstStyle/>
          <a:p>
            <a:r>
              <a:rPr lang="en-US" dirty="0"/>
              <a:t>“Payment Simulation” </a:t>
            </a:r>
            <a:endParaRPr lang="en-ZA" dirty="0"/>
          </a:p>
        </p:txBody>
      </p:sp>
      <p:pic>
        <p:nvPicPr>
          <p:cNvPr id="6" name="Content Placeholder 5">
            <a:extLst>
              <a:ext uri="{FF2B5EF4-FFF2-40B4-BE49-F238E27FC236}">
                <a16:creationId xmlns:a16="http://schemas.microsoft.com/office/drawing/2014/main" id="{FE2878CF-11BF-2845-848C-102B082D9766}"/>
              </a:ext>
            </a:extLst>
          </p:cNvPr>
          <p:cNvPicPr>
            <a:picLocks noGrp="1" noChangeAspect="1"/>
          </p:cNvPicPr>
          <p:nvPr>
            <p:ph idx="1"/>
          </p:nvPr>
        </p:nvPicPr>
        <p:blipFill>
          <a:blip r:embed="rId2"/>
          <a:stretch>
            <a:fillRect/>
          </a:stretch>
        </p:blipFill>
        <p:spPr>
          <a:xfrm>
            <a:off x="5183188" y="1231162"/>
            <a:ext cx="6172200" cy="4386150"/>
          </a:xfrm>
        </p:spPr>
      </p:pic>
      <p:sp>
        <p:nvSpPr>
          <p:cNvPr id="4" name="Text Placeholder 3">
            <a:extLst>
              <a:ext uri="{FF2B5EF4-FFF2-40B4-BE49-F238E27FC236}">
                <a16:creationId xmlns:a16="http://schemas.microsoft.com/office/drawing/2014/main" id="{75A487C3-2B68-1063-6A98-6D4C761DC7B6}"/>
              </a:ext>
            </a:extLst>
          </p:cNvPr>
          <p:cNvSpPr>
            <a:spLocks noGrp="1"/>
          </p:cNvSpPr>
          <p:nvPr>
            <p:ph type="body" sz="half" idx="2"/>
          </p:nvPr>
        </p:nvSpPr>
        <p:spPr/>
        <p:txBody>
          <a:bodyPr/>
          <a:lstStyle/>
          <a:p>
            <a:r>
              <a:rPr lang="en-US" dirty="0"/>
              <a:t>This is a new feature that a lecture can use to calculate the rate per  job, Number of jobs and it will calculate the total amount automatically </a:t>
            </a:r>
            <a:endParaRPr lang="en-ZA" dirty="0"/>
          </a:p>
        </p:txBody>
      </p:sp>
    </p:spTree>
    <p:extLst>
      <p:ext uri="{BB962C8B-B14F-4D97-AF65-F5344CB8AC3E}">
        <p14:creationId xmlns:p14="http://schemas.microsoft.com/office/powerpoint/2010/main" val="284722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ABDE-39DA-8C3F-F81D-C6CDF201BBFD}"/>
              </a:ext>
            </a:extLst>
          </p:cNvPr>
          <p:cNvSpPr>
            <a:spLocks noGrp="1"/>
          </p:cNvSpPr>
          <p:nvPr>
            <p:ph type="title"/>
          </p:nvPr>
        </p:nvSpPr>
        <p:spPr/>
        <p:txBody>
          <a:bodyPr/>
          <a:lstStyle/>
          <a:p>
            <a:r>
              <a:rPr lang="en-US" dirty="0"/>
              <a:t>Project Manager Feature </a:t>
            </a:r>
            <a:endParaRPr lang="en-ZA" dirty="0"/>
          </a:p>
        </p:txBody>
      </p:sp>
      <p:sp>
        <p:nvSpPr>
          <p:cNvPr id="3" name="Text Placeholder 2">
            <a:extLst>
              <a:ext uri="{FF2B5EF4-FFF2-40B4-BE49-F238E27FC236}">
                <a16:creationId xmlns:a16="http://schemas.microsoft.com/office/drawing/2014/main" id="{75010228-82FD-52D2-AB41-6031618B7E8C}"/>
              </a:ext>
            </a:extLst>
          </p:cNvPr>
          <p:cNvSpPr>
            <a:spLocks noGrp="1"/>
          </p:cNvSpPr>
          <p:nvPr>
            <p:ph type="body" idx="1"/>
          </p:nvPr>
        </p:nvSpPr>
        <p:spPr/>
        <p:txBody>
          <a:bodyPr>
            <a:normAutofit fontScale="85000" lnSpcReduction="20000"/>
          </a:bodyPr>
          <a:lstStyle/>
          <a:p>
            <a:r>
              <a:rPr lang="en-US" dirty="0"/>
              <a:t>In Poe Part 2, there was no project manager login details therefore the project manage could just reject or accept the claim </a:t>
            </a:r>
            <a:endParaRPr lang="en-ZA" dirty="0"/>
          </a:p>
        </p:txBody>
      </p:sp>
      <p:pic>
        <p:nvPicPr>
          <p:cNvPr id="8" name="Content Placeholder 7">
            <a:extLst>
              <a:ext uri="{FF2B5EF4-FFF2-40B4-BE49-F238E27FC236}">
                <a16:creationId xmlns:a16="http://schemas.microsoft.com/office/drawing/2014/main" id="{7C58CB19-8A00-B312-26F3-48FA75D084D7}"/>
              </a:ext>
            </a:extLst>
          </p:cNvPr>
          <p:cNvPicPr>
            <a:picLocks noGrp="1" noChangeAspect="1"/>
          </p:cNvPicPr>
          <p:nvPr>
            <p:ph sz="half" idx="2"/>
          </p:nvPr>
        </p:nvPicPr>
        <p:blipFill>
          <a:blip r:embed="rId2"/>
          <a:stretch>
            <a:fillRect/>
          </a:stretch>
        </p:blipFill>
        <p:spPr>
          <a:xfrm>
            <a:off x="884597" y="2505075"/>
            <a:ext cx="5068168" cy="3684588"/>
          </a:xfrm>
        </p:spPr>
      </p:pic>
      <p:sp>
        <p:nvSpPr>
          <p:cNvPr id="5" name="Text Placeholder 4">
            <a:extLst>
              <a:ext uri="{FF2B5EF4-FFF2-40B4-BE49-F238E27FC236}">
                <a16:creationId xmlns:a16="http://schemas.microsoft.com/office/drawing/2014/main" id="{09D05F67-EC43-25F1-5BC7-23113B9F01E5}"/>
              </a:ext>
            </a:extLst>
          </p:cNvPr>
          <p:cNvSpPr>
            <a:spLocks noGrp="1"/>
          </p:cNvSpPr>
          <p:nvPr>
            <p:ph type="body" sz="quarter" idx="3"/>
          </p:nvPr>
        </p:nvSpPr>
        <p:spPr/>
        <p:txBody>
          <a:bodyPr>
            <a:normAutofit fontScale="85000" lnSpcReduction="20000"/>
          </a:bodyPr>
          <a:lstStyle/>
          <a:p>
            <a:r>
              <a:rPr lang="en-US" dirty="0"/>
              <a:t>In Poe Part 3, there is a project manager profile whereby they have to approve or reject the lectures claim </a:t>
            </a:r>
            <a:endParaRPr lang="en-ZA" dirty="0"/>
          </a:p>
        </p:txBody>
      </p:sp>
      <p:pic>
        <p:nvPicPr>
          <p:cNvPr id="10" name="Content Placeholder 9">
            <a:extLst>
              <a:ext uri="{FF2B5EF4-FFF2-40B4-BE49-F238E27FC236}">
                <a16:creationId xmlns:a16="http://schemas.microsoft.com/office/drawing/2014/main" id="{C2755B06-12A5-7068-B45B-5C6E66B18752}"/>
              </a:ext>
            </a:extLst>
          </p:cNvPr>
          <p:cNvPicPr>
            <a:picLocks noGrp="1" noChangeAspect="1"/>
          </p:cNvPicPr>
          <p:nvPr>
            <p:ph sz="quarter" idx="4"/>
          </p:nvPr>
        </p:nvPicPr>
        <p:blipFill>
          <a:blip r:embed="rId3"/>
          <a:stretch>
            <a:fillRect/>
          </a:stretch>
        </p:blipFill>
        <p:spPr>
          <a:xfrm>
            <a:off x="6317073" y="2505075"/>
            <a:ext cx="4893442" cy="3684588"/>
          </a:xfrm>
        </p:spPr>
      </p:pic>
    </p:spTree>
    <p:extLst>
      <p:ext uri="{BB962C8B-B14F-4D97-AF65-F5344CB8AC3E}">
        <p14:creationId xmlns:p14="http://schemas.microsoft.com/office/powerpoint/2010/main" val="2541991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1E3C-A02F-61F2-41E6-A8B220BA266B}"/>
              </a:ext>
            </a:extLst>
          </p:cNvPr>
          <p:cNvSpPr>
            <a:spLocks noGrp="1"/>
          </p:cNvSpPr>
          <p:nvPr>
            <p:ph type="title"/>
          </p:nvPr>
        </p:nvSpPr>
        <p:spPr/>
        <p:txBody>
          <a:bodyPr/>
          <a:lstStyle/>
          <a:p>
            <a:r>
              <a:rPr lang="en-US" dirty="0"/>
              <a:t>Construction Manger </a:t>
            </a:r>
            <a:endParaRPr lang="en-ZA" dirty="0"/>
          </a:p>
        </p:txBody>
      </p:sp>
      <p:sp>
        <p:nvSpPr>
          <p:cNvPr id="3" name="Text Placeholder 2">
            <a:extLst>
              <a:ext uri="{FF2B5EF4-FFF2-40B4-BE49-F238E27FC236}">
                <a16:creationId xmlns:a16="http://schemas.microsoft.com/office/drawing/2014/main" id="{CE5C87D4-D4AC-8F85-829F-11554520C8A3}"/>
              </a:ext>
            </a:extLst>
          </p:cNvPr>
          <p:cNvSpPr>
            <a:spLocks noGrp="1"/>
          </p:cNvSpPr>
          <p:nvPr>
            <p:ph type="body" idx="1"/>
          </p:nvPr>
        </p:nvSpPr>
        <p:spPr/>
        <p:txBody>
          <a:bodyPr>
            <a:normAutofit fontScale="92500"/>
          </a:bodyPr>
          <a:lstStyle/>
          <a:p>
            <a:r>
              <a:rPr lang="en-US" dirty="0"/>
              <a:t>There was no Construction Manager in Poe Part 2 but you could track the status </a:t>
            </a:r>
            <a:endParaRPr lang="en-ZA" dirty="0"/>
          </a:p>
        </p:txBody>
      </p:sp>
      <p:pic>
        <p:nvPicPr>
          <p:cNvPr id="10" name="Content Placeholder 9">
            <a:extLst>
              <a:ext uri="{FF2B5EF4-FFF2-40B4-BE49-F238E27FC236}">
                <a16:creationId xmlns:a16="http://schemas.microsoft.com/office/drawing/2014/main" id="{655B78F0-126D-B28E-9BCD-B75E877871EB}"/>
              </a:ext>
            </a:extLst>
          </p:cNvPr>
          <p:cNvPicPr>
            <a:picLocks noGrp="1" noChangeAspect="1"/>
          </p:cNvPicPr>
          <p:nvPr>
            <p:ph sz="half" idx="2"/>
          </p:nvPr>
        </p:nvPicPr>
        <p:blipFill>
          <a:blip r:embed="rId2"/>
          <a:stretch>
            <a:fillRect/>
          </a:stretch>
        </p:blipFill>
        <p:spPr>
          <a:xfrm>
            <a:off x="998555" y="2505075"/>
            <a:ext cx="4840252" cy="3684588"/>
          </a:xfrm>
        </p:spPr>
      </p:pic>
      <p:sp>
        <p:nvSpPr>
          <p:cNvPr id="5" name="Text Placeholder 4">
            <a:extLst>
              <a:ext uri="{FF2B5EF4-FFF2-40B4-BE49-F238E27FC236}">
                <a16:creationId xmlns:a16="http://schemas.microsoft.com/office/drawing/2014/main" id="{B00B9103-28D6-3E1E-C41E-87CC66EBDF79}"/>
              </a:ext>
            </a:extLst>
          </p:cNvPr>
          <p:cNvSpPr>
            <a:spLocks noGrp="1"/>
          </p:cNvSpPr>
          <p:nvPr>
            <p:ph type="body" sz="quarter" idx="3"/>
          </p:nvPr>
        </p:nvSpPr>
        <p:spPr/>
        <p:txBody>
          <a:bodyPr>
            <a:normAutofit fontScale="92500"/>
          </a:bodyPr>
          <a:lstStyle/>
          <a:p>
            <a:r>
              <a:rPr lang="en-US" dirty="0"/>
              <a:t>The Construction Manger is the final approver for the lectures claim!</a:t>
            </a:r>
            <a:endParaRPr lang="en-ZA" dirty="0"/>
          </a:p>
        </p:txBody>
      </p:sp>
      <p:pic>
        <p:nvPicPr>
          <p:cNvPr id="8" name="Content Placeholder 7">
            <a:extLst>
              <a:ext uri="{FF2B5EF4-FFF2-40B4-BE49-F238E27FC236}">
                <a16:creationId xmlns:a16="http://schemas.microsoft.com/office/drawing/2014/main" id="{62F53EB4-E26A-5FC7-6248-DCDF9FEB2A94}"/>
              </a:ext>
            </a:extLst>
          </p:cNvPr>
          <p:cNvPicPr>
            <a:picLocks noGrp="1" noChangeAspect="1"/>
          </p:cNvPicPr>
          <p:nvPr>
            <p:ph sz="quarter" idx="4"/>
          </p:nvPr>
        </p:nvPicPr>
        <p:blipFill>
          <a:blip r:embed="rId3"/>
          <a:stretch>
            <a:fillRect/>
          </a:stretch>
        </p:blipFill>
        <p:spPr>
          <a:xfrm>
            <a:off x="6300938" y="2505075"/>
            <a:ext cx="4925712" cy="3684588"/>
          </a:xfrm>
        </p:spPr>
      </p:pic>
    </p:spTree>
    <p:extLst>
      <p:ext uri="{BB962C8B-B14F-4D97-AF65-F5344CB8AC3E}">
        <p14:creationId xmlns:p14="http://schemas.microsoft.com/office/powerpoint/2010/main" val="2813439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84FE-3B93-F628-82CD-24C91FB820D2}"/>
              </a:ext>
            </a:extLst>
          </p:cNvPr>
          <p:cNvSpPr>
            <a:spLocks noGrp="1"/>
          </p:cNvSpPr>
          <p:nvPr>
            <p:ph type="title"/>
          </p:nvPr>
        </p:nvSpPr>
        <p:spPr/>
        <p:txBody>
          <a:bodyPr/>
          <a:lstStyle/>
          <a:p>
            <a:r>
              <a:rPr lang="en-US" dirty="0"/>
              <a:t>HR (New Feature) </a:t>
            </a:r>
            <a:endParaRPr lang="en-ZA" dirty="0"/>
          </a:p>
        </p:txBody>
      </p:sp>
      <p:sp>
        <p:nvSpPr>
          <p:cNvPr id="3" name="Text Placeholder 2">
            <a:extLst>
              <a:ext uri="{FF2B5EF4-FFF2-40B4-BE49-F238E27FC236}">
                <a16:creationId xmlns:a16="http://schemas.microsoft.com/office/drawing/2014/main" id="{B598C2D8-05DF-8384-7F4D-9907B6C3E410}"/>
              </a:ext>
            </a:extLst>
          </p:cNvPr>
          <p:cNvSpPr>
            <a:spLocks noGrp="1"/>
          </p:cNvSpPr>
          <p:nvPr>
            <p:ph type="body" idx="1"/>
          </p:nvPr>
        </p:nvSpPr>
        <p:spPr/>
        <p:txBody>
          <a:bodyPr/>
          <a:lstStyle/>
          <a:p>
            <a:r>
              <a:rPr lang="en-US" dirty="0"/>
              <a:t>POE Part 3 has a HR feature whereby they can view all claims made </a:t>
            </a:r>
            <a:endParaRPr lang="en-ZA" dirty="0"/>
          </a:p>
        </p:txBody>
      </p:sp>
      <p:pic>
        <p:nvPicPr>
          <p:cNvPr id="8" name="Content Placeholder 7">
            <a:extLst>
              <a:ext uri="{FF2B5EF4-FFF2-40B4-BE49-F238E27FC236}">
                <a16:creationId xmlns:a16="http://schemas.microsoft.com/office/drawing/2014/main" id="{5A5C3512-7683-CD24-21FF-BC074FDF3053}"/>
              </a:ext>
            </a:extLst>
          </p:cNvPr>
          <p:cNvPicPr>
            <a:picLocks noGrp="1" noChangeAspect="1"/>
          </p:cNvPicPr>
          <p:nvPr>
            <p:ph sz="half" idx="2"/>
          </p:nvPr>
        </p:nvPicPr>
        <p:blipFill>
          <a:blip r:embed="rId2"/>
          <a:stretch>
            <a:fillRect/>
          </a:stretch>
        </p:blipFill>
        <p:spPr>
          <a:xfrm>
            <a:off x="839788" y="2538597"/>
            <a:ext cx="5157787" cy="3617544"/>
          </a:xfrm>
        </p:spPr>
      </p:pic>
      <p:sp>
        <p:nvSpPr>
          <p:cNvPr id="5" name="Text Placeholder 4">
            <a:extLst>
              <a:ext uri="{FF2B5EF4-FFF2-40B4-BE49-F238E27FC236}">
                <a16:creationId xmlns:a16="http://schemas.microsoft.com/office/drawing/2014/main" id="{2EAACE47-3A93-7E94-4FC7-487DB2A7F1EA}"/>
              </a:ext>
            </a:extLst>
          </p:cNvPr>
          <p:cNvSpPr>
            <a:spLocks noGrp="1"/>
          </p:cNvSpPr>
          <p:nvPr>
            <p:ph type="body" sz="quarter" idx="3"/>
          </p:nvPr>
        </p:nvSpPr>
        <p:spPr/>
        <p:txBody>
          <a:bodyPr/>
          <a:lstStyle/>
          <a:p>
            <a:r>
              <a:rPr lang="en-US" dirty="0"/>
              <a:t>They can view Claims Summary </a:t>
            </a:r>
            <a:endParaRPr lang="en-ZA" dirty="0"/>
          </a:p>
        </p:txBody>
      </p:sp>
      <p:pic>
        <p:nvPicPr>
          <p:cNvPr id="10" name="Content Placeholder 9">
            <a:extLst>
              <a:ext uri="{FF2B5EF4-FFF2-40B4-BE49-F238E27FC236}">
                <a16:creationId xmlns:a16="http://schemas.microsoft.com/office/drawing/2014/main" id="{C748DA4C-B540-393E-C573-F190CD75DF46}"/>
              </a:ext>
            </a:extLst>
          </p:cNvPr>
          <p:cNvPicPr>
            <a:picLocks noGrp="1" noChangeAspect="1"/>
          </p:cNvPicPr>
          <p:nvPr>
            <p:ph sz="quarter" idx="4"/>
          </p:nvPr>
        </p:nvPicPr>
        <p:blipFill>
          <a:blip r:embed="rId3"/>
          <a:stretch>
            <a:fillRect/>
          </a:stretch>
        </p:blipFill>
        <p:spPr>
          <a:xfrm>
            <a:off x="6172200" y="2562908"/>
            <a:ext cx="5183188" cy="3568921"/>
          </a:xfrm>
        </p:spPr>
      </p:pic>
    </p:spTree>
    <p:extLst>
      <p:ext uri="{BB962C8B-B14F-4D97-AF65-F5344CB8AC3E}">
        <p14:creationId xmlns:p14="http://schemas.microsoft.com/office/powerpoint/2010/main" val="1899362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A6F32-2E40-BBFA-AC16-EB8F03636F2F}"/>
              </a:ext>
            </a:extLst>
          </p:cNvPr>
          <p:cNvSpPr>
            <a:spLocks noGrp="1"/>
          </p:cNvSpPr>
          <p:nvPr>
            <p:ph type="title"/>
          </p:nvPr>
        </p:nvSpPr>
        <p:spPr/>
        <p:txBody>
          <a:bodyPr/>
          <a:lstStyle/>
          <a:p>
            <a:r>
              <a:rPr lang="en-US" dirty="0"/>
              <a:t>HR Feature </a:t>
            </a:r>
            <a:endParaRPr lang="en-ZA" dirty="0"/>
          </a:p>
        </p:txBody>
      </p:sp>
      <p:sp>
        <p:nvSpPr>
          <p:cNvPr id="3" name="Text Placeholder 2">
            <a:extLst>
              <a:ext uri="{FF2B5EF4-FFF2-40B4-BE49-F238E27FC236}">
                <a16:creationId xmlns:a16="http://schemas.microsoft.com/office/drawing/2014/main" id="{12073689-6A7F-216E-8F12-11B7188602F7}"/>
              </a:ext>
            </a:extLst>
          </p:cNvPr>
          <p:cNvSpPr>
            <a:spLocks noGrp="1"/>
          </p:cNvSpPr>
          <p:nvPr>
            <p:ph type="body" idx="1"/>
          </p:nvPr>
        </p:nvSpPr>
        <p:spPr/>
        <p:txBody>
          <a:bodyPr/>
          <a:lstStyle/>
          <a:p>
            <a:r>
              <a:rPr lang="en-US" dirty="0"/>
              <a:t>A CSV Report can be downloaded under the HR Feature </a:t>
            </a:r>
            <a:endParaRPr lang="en-ZA" dirty="0"/>
          </a:p>
        </p:txBody>
      </p:sp>
      <p:pic>
        <p:nvPicPr>
          <p:cNvPr id="8" name="Content Placeholder 7">
            <a:extLst>
              <a:ext uri="{FF2B5EF4-FFF2-40B4-BE49-F238E27FC236}">
                <a16:creationId xmlns:a16="http://schemas.microsoft.com/office/drawing/2014/main" id="{263C2990-9AC6-2881-B100-C25B66B98FD6}"/>
              </a:ext>
            </a:extLst>
          </p:cNvPr>
          <p:cNvPicPr>
            <a:picLocks noGrp="1" noChangeAspect="1"/>
          </p:cNvPicPr>
          <p:nvPr>
            <p:ph sz="half" idx="2"/>
          </p:nvPr>
        </p:nvPicPr>
        <p:blipFill>
          <a:blip r:embed="rId2"/>
          <a:stretch>
            <a:fillRect/>
          </a:stretch>
        </p:blipFill>
        <p:spPr>
          <a:xfrm>
            <a:off x="839788" y="2578187"/>
            <a:ext cx="5157787" cy="3538363"/>
          </a:xfrm>
        </p:spPr>
      </p:pic>
      <p:sp>
        <p:nvSpPr>
          <p:cNvPr id="5" name="Text Placeholder 4">
            <a:extLst>
              <a:ext uri="{FF2B5EF4-FFF2-40B4-BE49-F238E27FC236}">
                <a16:creationId xmlns:a16="http://schemas.microsoft.com/office/drawing/2014/main" id="{930C82D0-CA06-24BA-27BA-81B41139EC39}"/>
              </a:ext>
            </a:extLst>
          </p:cNvPr>
          <p:cNvSpPr>
            <a:spLocks noGrp="1"/>
          </p:cNvSpPr>
          <p:nvPr>
            <p:ph type="body" sz="quarter" idx="3"/>
          </p:nvPr>
        </p:nvSpPr>
        <p:spPr/>
        <p:txBody>
          <a:bodyPr/>
          <a:lstStyle/>
          <a:p>
            <a:r>
              <a:rPr lang="en-US" dirty="0"/>
              <a:t>They can view Employees </a:t>
            </a:r>
            <a:endParaRPr lang="en-ZA" dirty="0"/>
          </a:p>
        </p:txBody>
      </p:sp>
      <p:pic>
        <p:nvPicPr>
          <p:cNvPr id="10" name="Content Placeholder 9">
            <a:extLst>
              <a:ext uri="{FF2B5EF4-FFF2-40B4-BE49-F238E27FC236}">
                <a16:creationId xmlns:a16="http://schemas.microsoft.com/office/drawing/2014/main" id="{27C53FD0-F8CE-F785-A4C3-EB18766DDA11}"/>
              </a:ext>
            </a:extLst>
          </p:cNvPr>
          <p:cNvPicPr>
            <a:picLocks noGrp="1" noChangeAspect="1"/>
          </p:cNvPicPr>
          <p:nvPr>
            <p:ph sz="quarter" idx="4"/>
          </p:nvPr>
        </p:nvPicPr>
        <p:blipFill>
          <a:blip r:embed="rId3"/>
          <a:stretch>
            <a:fillRect/>
          </a:stretch>
        </p:blipFill>
        <p:spPr>
          <a:xfrm>
            <a:off x="6306601" y="2505075"/>
            <a:ext cx="4914385" cy="3684588"/>
          </a:xfrm>
        </p:spPr>
      </p:pic>
    </p:spTree>
    <p:extLst>
      <p:ext uri="{BB962C8B-B14F-4D97-AF65-F5344CB8AC3E}">
        <p14:creationId xmlns:p14="http://schemas.microsoft.com/office/powerpoint/2010/main" val="210860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D7C8F-4094-43D1-F814-19B587814813}"/>
              </a:ext>
            </a:extLst>
          </p:cNvPr>
          <p:cNvSpPr>
            <a:spLocks noGrp="1"/>
          </p:cNvSpPr>
          <p:nvPr>
            <p:ph type="title"/>
          </p:nvPr>
        </p:nvSpPr>
        <p:spPr/>
        <p:txBody>
          <a:bodyPr/>
          <a:lstStyle/>
          <a:p>
            <a:r>
              <a:rPr lang="en-US" dirty="0"/>
              <a:t>HR Feature </a:t>
            </a:r>
            <a:endParaRPr lang="en-ZA" dirty="0"/>
          </a:p>
        </p:txBody>
      </p:sp>
      <p:sp>
        <p:nvSpPr>
          <p:cNvPr id="3" name="Text Placeholder 2">
            <a:extLst>
              <a:ext uri="{FF2B5EF4-FFF2-40B4-BE49-F238E27FC236}">
                <a16:creationId xmlns:a16="http://schemas.microsoft.com/office/drawing/2014/main" id="{23E5C43A-2DF9-DB25-4602-07195A260217}"/>
              </a:ext>
            </a:extLst>
          </p:cNvPr>
          <p:cNvSpPr>
            <a:spLocks noGrp="1"/>
          </p:cNvSpPr>
          <p:nvPr>
            <p:ph type="body" idx="1"/>
          </p:nvPr>
        </p:nvSpPr>
        <p:spPr/>
        <p:txBody>
          <a:bodyPr/>
          <a:lstStyle/>
          <a:p>
            <a:r>
              <a:rPr lang="en-US" dirty="0"/>
              <a:t>They can add Employees </a:t>
            </a:r>
            <a:endParaRPr lang="en-ZA" dirty="0"/>
          </a:p>
        </p:txBody>
      </p:sp>
      <p:pic>
        <p:nvPicPr>
          <p:cNvPr id="8" name="Content Placeholder 7">
            <a:extLst>
              <a:ext uri="{FF2B5EF4-FFF2-40B4-BE49-F238E27FC236}">
                <a16:creationId xmlns:a16="http://schemas.microsoft.com/office/drawing/2014/main" id="{B6578FB1-98E8-FE82-4A48-D6E2A5FBB78F}"/>
              </a:ext>
            </a:extLst>
          </p:cNvPr>
          <p:cNvPicPr>
            <a:picLocks noGrp="1" noChangeAspect="1"/>
          </p:cNvPicPr>
          <p:nvPr>
            <p:ph sz="half" idx="2"/>
          </p:nvPr>
        </p:nvPicPr>
        <p:blipFill>
          <a:blip r:embed="rId2"/>
          <a:stretch>
            <a:fillRect/>
          </a:stretch>
        </p:blipFill>
        <p:spPr>
          <a:xfrm>
            <a:off x="839788" y="2515465"/>
            <a:ext cx="5157787" cy="3663807"/>
          </a:xfrm>
        </p:spPr>
      </p:pic>
      <p:sp>
        <p:nvSpPr>
          <p:cNvPr id="5" name="Text Placeholder 4">
            <a:extLst>
              <a:ext uri="{FF2B5EF4-FFF2-40B4-BE49-F238E27FC236}">
                <a16:creationId xmlns:a16="http://schemas.microsoft.com/office/drawing/2014/main" id="{5245576B-465B-BE12-69E2-2743A7944E41}"/>
              </a:ext>
            </a:extLst>
          </p:cNvPr>
          <p:cNvSpPr>
            <a:spLocks noGrp="1"/>
          </p:cNvSpPr>
          <p:nvPr>
            <p:ph type="body" sz="quarter" idx="3"/>
          </p:nvPr>
        </p:nvSpPr>
        <p:spPr/>
        <p:txBody>
          <a:bodyPr/>
          <a:lstStyle/>
          <a:p>
            <a:r>
              <a:rPr lang="en-US" dirty="0"/>
              <a:t>Lastly the “Hello…” is authentication feature </a:t>
            </a:r>
            <a:endParaRPr lang="en-ZA" dirty="0"/>
          </a:p>
        </p:txBody>
      </p:sp>
      <p:pic>
        <p:nvPicPr>
          <p:cNvPr id="10" name="Content Placeholder 9">
            <a:extLst>
              <a:ext uri="{FF2B5EF4-FFF2-40B4-BE49-F238E27FC236}">
                <a16:creationId xmlns:a16="http://schemas.microsoft.com/office/drawing/2014/main" id="{7ADBD8B9-646B-E203-6391-E6618D8DC834}"/>
              </a:ext>
            </a:extLst>
          </p:cNvPr>
          <p:cNvPicPr>
            <a:picLocks noGrp="1" noChangeAspect="1"/>
          </p:cNvPicPr>
          <p:nvPr>
            <p:ph sz="quarter" idx="4"/>
          </p:nvPr>
        </p:nvPicPr>
        <p:blipFill>
          <a:blip r:embed="rId3"/>
          <a:stretch>
            <a:fillRect/>
          </a:stretch>
        </p:blipFill>
        <p:spPr>
          <a:xfrm>
            <a:off x="6205753" y="2505075"/>
            <a:ext cx="5116082" cy="3684588"/>
          </a:xfrm>
        </p:spPr>
      </p:pic>
    </p:spTree>
    <p:extLst>
      <p:ext uri="{BB962C8B-B14F-4D97-AF65-F5344CB8AC3E}">
        <p14:creationId xmlns:p14="http://schemas.microsoft.com/office/powerpoint/2010/main" val="350112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3FB03-8297-0476-19B8-32C20151E98F}"/>
              </a:ext>
            </a:extLst>
          </p:cNvPr>
          <p:cNvSpPr>
            <a:spLocks noGrp="1"/>
          </p:cNvSpPr>
          <p:nvPr>
            <p:ph type="title"/>
          </p:nvPr>
        </p:nvSpPr>
        <p:spPr/>
        <p:txBody>
          <a:bodyPr/>
          <a:lstStyle/>
          <a:p>
            <a:r>
              <a:rPr lang="en-US" dirty="0"/>
              <a:t>SQL Server Management Studio 20 </a:t>
            </a:r>
            <a:endParaRPr lang="en-ZA" dirty="0"/>
          </a:p>
        </p:txBody>
      </p:sp>
      <p:pic>
        <p:nvPicPr>
          <p:cNvPr id="6" name="Picture Placeholder 5">
            <a:extLst>
              <a:ext uri="{FF2B5EF4-FFF2-40B4-BE49-F238E27FC236}">
                <a16:creationId xmlns:a16="http://schemas.microsoft.com/office/drawing/2014/main" id="{E7C4D9F8-CEE1-5356-5A10-233DCE5A0961}"/>
              </a:ext>
            </a:extLst>
          </p:cNvPr>
          <p:cNvPicPr>
            <a:picLocks noGrp="1" noChangeAspect="1"/>
          </p:cNvPicPr>
          <p:nvPr>
            <p:ph type="pic" idx="1"/>
          </p:nvPr>
        </p:nvPicPr>
        <p:blipFill>
          <a:blip r:embed="rId2"/>
          <a:srcRect l="6434" r="6434"/>
          <a:stretch/>
        </p:blipFill>
        <p:spPr/>
      </p:pic>
      <p:sp>
        <p:nvSpPr>
          <p:cNvPr id="4" name="Text Placeholder 3">
            <a:extLst>
              <a:ext uri="{FF2B5EF4-FFF2-40B4-BE49-F238E27FC236}">
                <a16:creationId xmlns:a16="http://schemas.microsoft.com/office/drawing/2014/main" id="{025399BA-C0EE-03F3-87AB-D7BCBE9A7278}"/>
              </a:ext>
            </a:extLst>
          </p:cNvPr>
          <p:cNvSpPr>
            <a:spLocks noGrp="1"/>
          </p:cNvSpPr>
          <p:nvPr>
            <p:ph type="body" sz="half" idx="2"/>
          </p:nvPr>
        </p:nvSpPr>
        <p:spPr/>
        <p:txBody>
          <a:bodyPr>
            <a:normAutofit lnSpcReduction="10000"/>
          </a:bodyPr>
          <a:lstStyle/>
          <a:p>
            <a:r>
              <a:rPr lang="en-US" dirty="0"/>
              <a:t>In this application, SQL is used to store, manage, and retrieve all the data related to workers, claims, approvals, and payroll. Each user role like Worker, Project Manager, Construction Manager, and HR interacts with the database to submit, review, or process claims. By using SQL, the application can efficiently track claim statuses, enforce business rules (like reason-required rejections), calculate payments, and generate reports. This ensures data consistency, enables secure multi-user access, and provides the foundation for real-time workflows and automated notifications, making the claims process transparent and streamlined. Therefore I will provide a screenshot of the connection string </a:t>
            </a:r>
            <a:endParaRPr lang="en-ZA" dirty="0"/>
          </a:p>
        </p:txBody>
      </p:sp>
    </p:spTree>
    <p:extLst>
      <p:ext uri="{BB962C8B-B14F-4D97-AF65-F5344CB8AC3E}">
        <p14:creationId xmlns:p14="http://schemas.microsoft.com/office/powerpoint/2010/main" val="3249525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151D3-901A-945A-174E-40D2DA555C99}"/>
              </a:ext>
            </a:extLst>
          </p:cNvPr>
          <p:cNvSpPr>
            <a:spLocks noGrp="1"/>
          </p:cNvSpPr>
          <p:nvPr>
            <p:ph type="title"/>
          </p:nvPr>
        </p:nvSpPr>
        <p:spPr/>
        <p:txBody>
          <a:bodyPr/>
          <a:lstStyle/>
          <a:p>
            <a:r>
              <a:rPr lang="en-US" dirty="0"/>
              <a:t>Conclusion </a:t>
            </a:r>
            <a:endParaRPr lang="en-ZA" dirty="0"/>
          </a:p>
        </p:txBody>
      </p:sp>
      <p:sp>
        <p:nvSpPr>
          <p:cNvPr id="3" name="Text Placeholder 2">
            <a:extLst>
              <a:ext uri="{FF2B5EF4-FFF2-40B4-BE49-F238E27FC236}">
                <a16:creationId xmlns:a16="http://schemas.microsoft.com/office/drawing/2014/main" id="{D968FA09-4AFB-A81A-12EE-E6A42AD3D17E}"/>
              </a:ext>
            </a:extLst>
          </p:cNvPr>
          <p:cNvSpPr>
            <a:spLocks noGrp="1"/>
          </p:cNvSpPr>
          <p:nvPr>
            <p:ph type="body" idx="1"/>
          </p:nvPr>
        </p:nvSpPr>
        <p:spPr/>
        <p:txBody>
          <a:bodyPr>
            <a:normAutofit fontScale="70000" lnSpcReduction="20000"/>
          </a:bodyPr>
          <a:lstStyle/>
          <a:p>
            <a:r>
              <a:rPr lang="en-US" dirty="0"/>
              <a:t>In conclusion, the </a:t>
            </a:r>
            <a:r>
              <a:rPr lang="en-US" dirty="0" err="1"/>
              <a:t>BuildTrack</a:t>
            </a:r>
            <a:r>
              <a:rPr lang="en-US" dirty="0"/>
              <a:t> Claim System successfully addresses the challenges associated with managing construction work claims by providing a structured, automated, and user-friendly platform. The application simplifies the process for Workers to submit claims and allows Managers and HR to review, approve, and finalize payments efficiently. With SQL-based data management, automated workflows, and clear reporting, the system enhances productivity, reduces errors, and ensures transparency across all roles. The project demonstrates the effectiveness of integrating web technologies and database management to solve real-world operational problems in construction project administration.</a:t>
            </a:r>
            <a:endParaRPr lang="en-ZA" dirty="0"/>
          </a:p>
        </p:txBody>
      </p:sp>
    </p:spTree>
    <p:extLst>
      <p:ext uri="{BB962C8B-B14F-4D97-AF65-F5344CB8AC3E}">
        <p14:creationId xmlns:p14="http://schemas.microsoft.com/office/powerpoint/2010/main" val="4142330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795</Words>
  <Application>Microsoft Office PowerPoint</Application>
  <PresentationFormat>Widescreen</PresentationFormat>
  <Paragraphs>44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Lato</vt:lpstr>
      <vt:lpstr>Office Theme</vt:lpstr>
      <vt:lpstr>PROG6212_PoePart3</vt:lpstr>
      <vt:lpstr>Introduction </vt:lpstr>
      <vt:lpstr>Claim Approval Dashboard</vt:lpstr>
      <vt:lpstr>Amount Limitation </vt:lpstr>
      <vt:lpstr>New Features on Part 3 Poe compared to Part 2 Poe </vt:lpstr>
      <vt:lpstr>The Welcome Page </vt:lpstr>
      <vt:lpstr>Login Feature: Part 2 had no login feature there for Part 3 has a new feature whereby users need to login depending on their position </vt:lpstr>
      <vt:lpstr>Lecture Claim</vt:lpstr>
      <vt:lpstr>Lecture Claim (Continuation Part 3)</vt:lpstr>
      <vt:lpstr>“Payment Simulation” </vt:lpstr>
      <vt:lpstr>Project Manager Feature </vt:lpstr>
      <vt:lpstr>Construction Manger </vt:lpstr>
      <vt:lpstr>HR (New Feature) </vt:lpstr>
      <vt:lpstr>HR Feature </vt:lpstr>
      <vt:lpstr>HR Feature </vt:lpstr>
      <vt:lpstr>SQL Server Management Studio 20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PROG6212_PoePart3</dc:title>
  <dc:creator>Titus Ndaba</dc:creator>
  <cp:lastModifiedBy>Titus Ndaba</cp:lastModifiedBy>
  <cp:revision>2</cp:revision>
  <dcterms:created xsi:type="dcterms:W3CDTF">2025-11-20T20:22:57Z</dcterms:created>
  <dcterms:modified xsi:type="dcterms:W3CDTF">2025-11-20T21:24:46Z</dcterms:modified>
</cp:coreProperties>
</file>